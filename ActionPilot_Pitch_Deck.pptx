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(15s):</a:t>
            </a:r>
          </a:p>
          <a:p>
            <a:r>
              <a:t>Judges, every company loses hours turning messy meetings, voice memos, and emails into Jira, Slack, and Calendar tasks. But trusting standard AI creates hallucinations and costly mistakes. We built ActionPilot — an evidence-grounded AI orchestration engine with zero hallucination, conflict resolution, and human governance.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(30s):</a:t>
            </a:r>
          </a:p>
          <a:p>
            <a:r>
              <a:t>Why can't enterprises trust current AI agents? Three deadly flaws:</a:t>
            </a:r>
          </a:p>
          <a:p>
            <a:r>
              <a:t>1. Hallucination Risk: Blind LLMs invent deadlines and assignees.</a:t>
            </a:r>
          </a:p>
          <a:p>
            <a:r>
              <a:t>2. Contradiction Blindness: When two leaders give conflicting dates in separate meetings, LLMs guess or break.</a:t>
            </a:r>
          </a:p>
          <a:p>
            <a:r>
              <a:t>3. Lack of Governance: Autonomous tools execute actions without immutable audit trails.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(30s):</a:t>
            </a:r>
          </a:p>
          <a:p>
            <a:r>
              <a:t>ActionPilot introduces a 5-step deterministic pipeline. We ingest audio via Web Speech API or documents, ground every single task to exact character offsets in the source text, feed it through our conflict matrix, enforce human signoff, and then dispatch to Google Calendar, Slack, or GitHub.</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KILLER FEATURES (30s):</a:t>
            </a:r>
          </a:p>
          <a:p>
            <a:r>
              <a:t>For this hackathon, we built 5 production features:</a:t>
            </a:r>
          </a:p>
          <a:p>
            <a:r>
              <a:t>1. Live Voice Recording right in the browser.</a:t>
            </a:r>
          </a:p>
          <a:p>
            <a:r>
              <a:t>2. 1-Click Demo Scenarios to stress-test in 1 second.</a:t>
            </a:r>
          </a:p>
          <a:p>
            <a:r>
              <a:t>3. Side-by-Side radiant evidence highlighting.</a:t>
            </a:r>
          </a:p>
          <a:p>
            <a:r>
              <a:t>4. Interactive AI Conflict Resolver that catches conflicting deadlines.</a:t>
            </a:r>
          </a:p>
          <a:p>
            <a:r>
              <a:t>5. 1-Click Dispatch Hub with a dry-run simulation toggle.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CHOREOGRAPHY (90s):</a:t>
            </a:r>
          </a:p>
          <a:p>
            <a:r>
              <a:t>Let me show you this in action. We load our Product Launch sync. Notice how Priya asked for Nov 2, but DevOps mandated an Oct 20 freeze. ActionPilot immediately flagged this amber contradiction. With one click, the manager selects the safe freeze date, and dispatches the event straight to Google Calendar.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 TECH &amp; SECURITY (30s):</a:t>
            </a:r>
          </a:p>
          <a:p>
            <a:r>
              <a:t>Under the hood, this isn't a simple wrapper. We have a FastAPI backend, tenant-isolated SQLite database, PBKDF2 password hashing, and Gmail OTP verification. Crucially, we built a dual-engine extractor — if external LLM APIs fail, our deterministic heuristic engine keeps running offline with zero downtime.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IMPACT (30s):</a:t>
            </a:r>
          </a:p>
          <a:p>
            <a:r>
              <a:t>The business impact is immediate: a 92% reduction in meeting-to-execution cycle time, zero hallucinations because of strict quote provenance, and 100% compliance readiness with cryptographic audit trails for every human approval.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&amp; CLOSING (15s):</a:t>
            </a:r>
          </a:p>
          <a:p>
            <a:r>
              <a:t>Our roadmap includes live Zoom bot listeners and bidirectional Jira sync. Our backend is already live on Render, and our repo is open source. Thank you, judges — we'd love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2560320" cy="365760"/>
          </a:xfrm>
          <a:prstGeom prst="roundRect">
            <a:avLst/>
          </a:prstGeom>
          <a:solidFill>
            <a:srgbClr val="192D50"/>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3B82F6"/>
                </a:solidFill>
              </a:defRPr>
            </a:pPr>
            <a:r>
              <a:t>⚡ HACKATHON 2026 EDITION</a:t>
            </a:r>
          </a:p>
        </p:txBody>
      </p:sp>
      <p:sp>
        <p:nvSpPr>
          <p:cNvPr id="4" name="TextBox 3"/>
          <p:cNvSpPr txBox="1"/>
          <p:nvPr/>
        </p:nvSpPr>
        <p:spPr>
          <a:xfrm>
            <a:off x="731520" y="1371600"/>
            <a:ext cx="10515600" cy="1828800"/>
          </a:xfrm>
          <a:prstGeom prst="rect">
            <a:avLst/>
          </a:prstGeom>
          <a:noFill/>
        </p:spPr>
        <p:txBody>
          <a:bodyPr wrap="square">
            <a:spAutoFit/>
          </a:bodyPr>
          <a:lstStyle/>
          <a:p>
            <a:pPr>
              <a:defRPr b="1" sz="5400">
                <a:solidFill>
                  <a:srgbClr val="F8FAFC"/>
                </a:solidFill>
              </a:defRPr>
            </a:pPr>
            <a:r>
              <a:t>ActionPilot</a:t>
            </a:r>
          </a:p>
          <a:p>
            <a:pPr>
              <a:spcBef>
                <a:spcPts val="1000"/>
              </a:spcBef>
              <a:defRPr b="1" sz="2400">
                <a:solidFill>
                  <a:srgbClr val="3B82F6"/>
                </a:solidFill>
              </a:defRPr>
            </a:pPr>
            <a:r>
              <a:t>Evidence-Driven AI Workflow Automation &amp; Governance</a:t>
            </a:r>
          </a:p>
          <a:p>
            <a:pPr>
              <a:spcBef>
                <a:spcPts val="1400"/>
              </a:spcBef>
              <a:defRPr sz="1500">
                <a:solidFill>
                  <a:srgbClr val="94A3B8"/>
                </a:solidFill>
              </a:defRPr>
            </a:pPr>
            <a:r>
              <a:t>Turning messy human meetings, voice memos, and incident chats into deterministic, verifiable, and auditable task execution with zero hallucinations.</a:t>
            </a:r>
          </a:p>
        </p:txBody>
      </p:sp>
      <p:sp>
        <p:nvSpPr>
          <p:cNvPr id="5" name="Rounded Rectangle 4"/>
          <p:cNvSpPr/>
          <p:nvPr/>
        </p:nvSpPr>
        <p:spPr>
          <a:xfrm>
            <a:off x="731520" y="3931920"/>
            <a:ext cx="3291840" cy="2194560"/>
          </a:xfrm>
          <a:prstGeom prst="roundRect">
            <a:avLst/>
          </a:prstGeom>
          <a:solidFill>
            <a:srgbClr val="121826"/>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114800"/>
            <a:ext cx="2926080" cy="1828800"/>
          </a:xfrm>
          <a:prstGeom prst="rect">
            <a:avLst/>
          </a:prstGeom>
          <a:noFill/>
        </p:spPr>
        <p:txBody>
          <a:bodyPr wrap="square">
            <a:spAutoFit/>
          </a:bodyPr>
          <a:lstStyle/>
          <a:p>
            <a:pPr>
              <a:defRPr b="1" sz="1700">
                <a:solidFill>
                  <a:srgbClr val="F8FAFC"/>
                </a:solidFill>
              </a:defRPr>
            </a:pPr>
            <a:r>
              <a:t>🔍  100% Provenance</a:t>
            </a:r>
          </a:p>
          <a:p>
            <a:pPr>
              <a:spcBef>
                <a:spcPts val="800"/>
              </a:spcBef>
              <a:defRPr sz="1300">
                <a:solidFill>
                  <a:srgbClr val="94A3B8"/>
                </a:solidFill>
              </a:defRPr>
            </a:pPr>
            <a:r>
              <a:t>Every extracted task is strictly grounded to character-level source offsets.</a:t>
            </a:r>
          </a:p>
          <a:p>
            <a:pPr>
              <a:spcBef>
                <a:spcPts val="800"/>
              </a:spcBef>
              <a:defRPr sz="1300">
                <a:solidFill>
                  <a:srgbClr val="94A3B8"/>
                </a:solidFill>
              </a:defRPr>
            </a:pPr>
            <a:r>
              <a:t>Zero hallucinations guaranteed.</a:t>
            </a:r>
          </a:p>
        </p:txBody>
      </p:sp>
      <p:sp>
        <p:nvSpPr>
          <p:cNvPr id="7" name="Rounded Rectangle 6"/>
          <p:cNvSpPr/>
          <p:nvPr/>
        </p:nvSpPr>
        <p:spPr>
          <a:xfrm>
            <a:off x="4389120" y="3931920"/>
            <a:ext cx="3291840" cy="2194560"/>
          </a:xfrm>
          <a:prstGeom prst="roundRect">
            <a:avLst/>
          </a:prstGeom>
          <a:solidFill>
            <a:srgbClr val="12182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4114800"/>
            <a:ext cx="2926080" cy="1828800"/>
          </a:xfrm>
          <a:prstGeom prst="rect">
            <a:avLst/>
          </a:prstGeom>
          <a:noFill/>
        </p:spPr>
        <p:txBody>
          <a:bodyPr wrap="square">
            <a:spAutoFit/>
          </a:bodyPr>
          <a:lstStyle/>
          <a:p>
            <a:pPr>
              <a:defRPr b="1" sz="1700">
                <a:solidFill>
                  <a:srgbClr val="F8FAFC"/>
                </a:solidFill>
              </a:defRPr>
            </a:pPr>
            <a:r>
              <a:t>⚔️  AI Conflict Resolver</a:t>
            </a:r>
          </a:p>
          <a:p>
            <a:pPr>
              <a:spcBef>
                <a:spcPts val="800"/>
              </a:spcBef>
              <a:defRPr sz="1300">
                <a:solidFill>
                  <a:srgbClr val="94A3B8"/>
                </a:solidFill>
              </a:defRPr>
            </a:pPr>
            <a:r>
              <a:t>Detects contradictory deadlines between teams and prompts human resolution.</a:t>
            </a:r>
          </a:p>
          <a:p>
            <a:pPr>
              <a:spcBef>
                <a:spcPts val="800"/>
              </a:spcBef>
              <a:defRPr sz="1300">
                <a:solidFill>
                  <a:srgbClr val="94A3B8"/>
                </a:solidFill>
              </a:defRPr>
            </a:pPr>
            <a:r>
              <a:t>No silent failures.</a:t>
            </a:r>
          </a:p>
        </p:txBody>
      </p:sp>
      <p:sp>
        <p:nvSpPr>
          <p:cNvPr id="9" name="Rounded Rectangle 8"/>
          <p:cNvSpPr/>
          <p:nvPr/>
        </p:nvSpPr>
        <p:spPr>
          <a:xfrm>
            <a:off x="8046720" y="3931920"/>
            <a:ext cx="3291840" cy="2194560"/>
          </a:xfrm>
          <a:prstGeom prst="roundRect">
            <a:avLst/>
          </a:prstGeom>
          <a:solidFill>
            <a:srgbClr val="12182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4114800"/>
            <a:ext cx="2926080" cy="1828800"/>
          </a:xfrm>
          <a:prstGeom prst="rect">
            <a:avLst/>
          </a:prstGeom>
          <a:noFill/>
        </p:spPr>
        <p:txBody>
          <a:bodyPr wrap="square">
            <a:spAutoFit/>
          </a:bodyPr>
          <a:lstStyle/>
          <a:p>
            <a:pPr>
              <a:defRPr b="1" sz="1700">
                <a:solidFill>
                  <a:srgbClr val="F8FAFC"/>
                </a:solidFill>
              </a:defRPr>
            </a:pPr>
            <a:r>
              <a:t>🚀  1-Click Dispatch Hub</a:t>
            </a:r>
          </a:p>
          <a:p>
            <a:pPr>
              <a:spcBef>
                <a:spcPts val="800"/>
              </a:spcBef>
              <a:defRPr sz="1300">
                <a:solidFill>
                  <a:srgbClr val="94A3B8"/>
                </a:solidFill>
              </a:defRPr>
            </a:pPr>
            <a:r>
              <a:t>Instantly triggers Google Calendar, Slack webhooks, GitHub issues, and Email.</a:t>
            </a:r>
          </a:p>
          <a:p>
            <a:pPr>
              <a:spcBef>
                <a:spcPts val="800"/>
              </a:spcBef>
              <a:defRPr sz="1300">
                <a:solidFill>
                  <a:srgbClr val="94A3B8"/>
                </a:solidFill>
              </a:defRPr>
            </a:pPr>
            <a:r>
              <a:t>Includes dry-run pitch mode.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65760"/>
          </a:xfrm>
          <a:prstGeom prst="rect">
            <a:avLst/>
          </a:prstGeom>
          <a:noFill/>
        </p:spPr>
        <p:txBody>
          <a:bodyPr wrap="square">
            <a:spAutoFit/>
          </a:bodyPr>
          <a:lstStyle/>
          <a:p>
            <a:pPr>
              <a:defRPr b="1" sz="1100">
                <a:solidFill>
                  <a:srgbClr val="3B82F6"/>
                </a:solidFill>
              </a:defRPr>
            </a:pPr>
            <a:r>
              <a:t>MARKET PAIN POINT</a:t>
            </a:r>
          </a:p>
        </p:txBody>
      </p:sp>
      <p:sp>
        <p:nvSpPr>
          <p:cNvPr id="4" name="TextBox 3"/>
          <p:cNvSpPr txBox="1"/>
          <p:nvPr/>
        </p:nvSpPr>
        <p:spPr>
          <a:xfrm>
            <a:off x="731520" y="731520"/>
            <a:ext cx="10515600" cy="822960"/>
          </a:xfrm>
          <a:prstGeom prst="rect">
            <a:avLst/>
          </a:prstGeom>
          <a:noFill/>
        </p:spPr>
        <p:txBody>
          <a:bodyPr wrap="square">
            <a:spAutoFit/>
          </a:bodyPr>
          <a:lstStyle/>
          <a:p>
            <a:pPr>
              <a:defRPr b="1" sz="2800">
                <a:solidFill>
                  <a:srgbClr val="F8FAFC"/>
                </a:solidFill>
              </a:defRPr>
            </a:pPr>
            <a:r>
              <a:t>The 3 Deadly Flaws of AI Workflow Tools</a:t>
            </a:r>
          </a:p>
        </p:txBody>
      </p:sp>
      <p:sp>
        <p:nvSpPr>
          <p:cNvPr id="5" name="TextBox 4"/>
          <p:cNvSpPr txBox="1"/>
          <p:nvPr/>
        </p:nvSpPr>
        <p:spPr>
          <a:xfrm>
            <a:off x="731520" y="1508760"/>
            <a:ext cx="10515600" cy="548640"/>
          </a:xfrm>
          <a:prstGeom prst="rect">
            <a:avLst/>
          </a:prstGeom>
          <a:noFill/>
        </p:spPr>
        <p:txBody>
          <a:bodyPr wrap="square">
            <a:spAutoFit/>
          </a:bodyPr>
          <a:lstStyle/>
          <a:p>
            <a:pPr>
              <a:defRPr sz="1400">
                <a:solidFill>
                  <a:srgbClr val="94A3B8"/>
                </a:solidFill>
              </a:defRPr>
            </a:pPr>
            <a:r>
              <a:t>Why autonomous agents and LLM tools fail in high-stakes enterprise environments:</a:t>
            </a:r>
          </a:p>
        </p:txBody>
      </p:sp>
      <p:sp>
        <p:nvSpPr>
          <p:cNvPr id="6" name="Rounded Rectangle 5"/>
          <p:cNvSpPr/>
          <p:nvPr/>
        </p:nvSpPr>
        <p:spPr>
          <a:xfrm>
            <a:off x="731520" y="2286000"/>
            <a:ext cx="3291840" cy="3840480"/>
          </a:xfrm>
          <a:prstGeom prst="roundRect">
            <a:avLst/>
          </a:prstGeom>
          <a:solidFill>
            <a:srgbClr val="121826"/>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468880"/>
            <a:ext cx="2926080" cy="3474720"/>
          </a:xfrm>
          <a:prstGeom prst="rect">
            <a:avLst/>
          </a:prstGeom>
          <a:noFill/>
        </p:spPr>
        <p:txBody>
          <a:bodyPr wrap="square">
            <a:spAutoFit/>
          </a:bodyPr>
          <a:lstStyle/>
          <a:p>
            <a:pPr>
              <a:defRPr b="1" sz="1700">
                <a:solidFill>
                  <a:srgbClr val="F8FAFC"/>
                </a:solidFill>
              </a:defRPr>
            </a:pPr>
            <a:r>
              <a:t>🚨  1. Hallucination Risk</a:t>
            </a:r>
          </a:p>
          <a:p>
            <a:pPr>
              <a:spcBef>
                <a:spcPts val="800"/>
              </a:spcBef>
              <a:defRPr sz="1300">
                <a:solidFill>
                  <a:srgbClr val="94A3B8"/>
                </a:solidFill>
              </a:defRPr>
            </a:pPr>
            <a:r>
              <a:t>• Unconstrained LLMs invent dates, assignees, and tasks when context is ambiguous.</a:t>
            </a:r>
          </a:p>
          <a:p>
            <a:pPr>
              <a:spcBef>
                <a:spcPts val="800"/>
              </a:spcBef>
              <a:defRPr sz="1300">
                <a:solidFill>
                  <a:srgbClr val="94A3B8"/>
                </a:solidFill>
              </a:defRPr>
            </a:pPr>
            <a:r>
              <a:t>• No reference back to the original sentence or speaker.</a:t>
            </a:r>
          </a:p>
          <a:p>
            <a:pPr>
              <a:spcBef>
                <a:spcPts val="800"/>
              </a:spcBef>
              <a:defRPr sz="1300">
                <a:solidFill>
                  <a:srgbClr val="94A3B8"/>
                </a:solidFill>
              </a:defRPr>
            </a:pPr>
            <a:r>
              <a:t>• Creates costly errors and destroys trust in enterprise operations.</a:t>
            </a:r>
          </a:p>
        </p:txBody>
      </p:sp>
      <p:sp>
        <p:nvSpPr>
          <p:cNvPr id="8" name="Rounded Rectangle 7"/>
          <p:cNvSpPr/>
          <p:nvPr/>
        </p:nvSpPr>
        <p:spPr>
          <a:xfrm>
            <a:off x="4389120" y="2286000"/>
            <a:ext cx="3291840" cy="3840480"/>
          </a:xfrm>
          <a:prstGeom prst="roundRect">
            <a:avLst/>
          </a:prstGeom>
          <a:solidFill>
            <a:srgbClr val="12182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468880"/>
            <a:ext cx="2926080" cy="3474720"/>
          </a:xfrm>
          <a:prstGeom prst="rect">
            <a:avLst/>
          </a:prstGeom>
          <a:noFill/>
        </p:spPr>
        <p:txBody>
          <a:bodyPr wrap="square">
            <a:spAutoFit/>
          </a:bodyPr>
          <a:lstStyle/>
          <a:p>
            <a:pPr>
              <a:defRPr b="1" sz="1700">
                <a:solidFill>
                  <a:srgbClr val="F8FAFC"/>
                </a:solidFill>
              </a:defRPr>
            </a:pPr>
            <a:r>
              <a:t>⚠️  2. Contradiction Blindness</a:t>
            </a:r>
          </a:p>
          <a:p>
            <a:pPr>
              <a:spcBef>
                <a:spcPts val="800"/>
              </a:spcBef>
              <a:defRPr sz="1300">
                <a:solidFill>
                  <a:srgbClr val="94A3B8"/>
                </a:solidFill>
              </a:defRPr>
            </a:pPr>
            <a:r>
              <a:t>• Cross-functional meetings frequently contain conflicting deadlines.</a:t>
            </a:r>
          </a:p>
          <a:p>
            <a:pPr>
              <a:spcBef>
                <a:spcPts val="800"/>
              </a:spcBef>
              <a:defRPr sz="1300">
                <a:solidFill>
                  <a:srgbClr val="94A3B8"/>
                </a:solidFill>
              </a:defRPr>
            </a:pPr>
            <a:r>
              <a:t>• E.g., Product Lead says 'Launch Nov 2', DevOps mandates 'Freeze Oct 20'.</a:t>
            </a:r>
          </a:p>
          <a:p>
            <a:pPr>
              <a:spcBef>
                <a:spcPts val="800"/>
              </a:spcBef>
              <a:defRPr sz="1300">
                <a:solidFill>
                  <a:srgbClr val="94A3B8"/>
                </a:solidFill>
              </a:defRPr>
            </a:pPr>
            <a:r>
              <a:t>• Current tools silently pick the wrong date or crash.</a:t>
            </a:r>
          </a:p>
        </p:txBody>
      </p:sp>
      <p:sp>
        <p:nvSpPr>
          <p:cNvPr id="10" name="Rounded Rectangle 9"/>
          <p:cNvSpPr/>
          <p:nvPr/>
        </p:nvSpPr>
        <p:spPr>
          <a:xfrm>
            <a:off x="8046720" y="2286000"/>
            <a:ext cx="3291840" cy="3840480"/>
          </a:xfrm>
          <a:prstGeom prst="roundRect">
            <a:avLst/>
          </a:prstGeom>
          <a:solidFill>
            <a:srgbClr val="121826"/>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2468880"/>
            <a:ext cx="2926080" cy="3474720"/>
          </a:xfrm>
          <a:prstGeom prst="rect">
            <a:avLst/>
          </a:prstGeom>
          <a:noFill/>
        </p:spPr>
        <p:txBody>
          <a:bodyPr wrap="square">
            <a:spAutoFit/>
          </a:bodyPr>
          <a:lstStyle/>
          <a:p>
            <a:pPr>
              <a:defRPr b="1" sz="1700">
                <a:solidFill>
                  <a:srgbClr val="F8FAFC"/>
                </a:solidFill>
              </a:defRPr>
            </a:pPr>
            <a:r>
              <a:t>🔒  3. Missing Governance</a:t>
            </a:r>
          </a:p>
          <a:p>
            <a:pPr>
              <a:spcBef>
                <a:spcPts val="800"/>
              </a:spcBef>
              <a:defRPr sz="1300">
                <a:solidFill>
                  <a:srgbClr val="94A3B8"/>
                </a:solidFill>
              </a:defRPr>
            </a:pPr>
            <a:r>
              <a:t>• Black-box autonomous agents trigger real-world side effects without sign-off.</a:t>
            </a:r>
          </a:p>
          <a:p>
            <a:pPr>
              <a:spcBef>
                <a:spcPts val="800"/>
              </a:spcBef>
              <a:defRPr sz="1300">
                <a:solidFill>
                  <a:srgbClr val="94A3B8"/>
                </a:solidFill>
              </a:defRPr>
            </a:pPr>
            <a:r>
              <a:t>• No cryptographic audit trail of who approved what.</a:t>
            </a:r>
          </a:p>
          <a:p>
            <a:pPr>
              <a:spcBef>
                <a:spcPts val="800"/>
              </a:spcBef>
              <a:defRPr sz="1300">
                <a:solidFill>
                  <a:srgbClr val="94A3B8"/>
                </a:solidFill>
              </a:defRPr>
            </a:pPr>
            <a:r>
              <a:t>• Violates enterprise SOC-2, HIPAA, and security compliance policies.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65760"/>
          </a:xfrm>
          <a:prstGeom prst="rect">
            <a:avLst/>
          </a:prstGeom>
          <a:noFill/>
        </p:spPr>
        <p:txBody>
          <a:bodyPr wrap="square">
            <a:spAutoFit/>
          </a:bodyPr>
          <a:lstStyle/>
          <a:p>
            <a:pPr>
              <a:defRPr b="1" sz="1100">
                <a:solidFill>
                  <a:srgbClr val="3B82F6"/>
                </a:solidFill>
              </a:defRPr>
            </a:pPr>
            <a:r>
              <a:t>SYSTEM ARCHITECTURE</a:t>
            </a:r>
          </a:p>
        </p:txBody>
      </p:sp>
      <p:sp>
        <p:nvSpPr>
          <p:cNvPr id="4" name="TextBox 3"/>
          <p:cNvSpPr txBox="1"/>
          <p:nvPr/>
        </p:nvSpPr>
        <p:spPr>
          <a:xfrm>
            <a:off x="731520" y="731520"/>
            <a:ext cx="10515600" cy="822960"/>
          </a:xfrm>
          <a:prstGeom prst="rect">
            <a:avLst/>
          </a:prstGeom>
          <a:noFill/>
        </p:spPr>
        <p:txBody>
          <a:bodyPr wrap="square">
            <a:spAutoFit/>
          </a:bodyPr>
          <a:lstStyle/>
          <a:p>
            <a:pPr>
              <a:defRPr b="1" sz="2800">
                <a:solidFill>
                  <a:srgbClr val="F8FAFC"/>
                </a:solidFill>
              </a:defRPr>
            </a:pPr>
            <a:r>
              <a:t>How ActionPilot Solves the Execution Chain</a:t>
            </a:r>
          </a:p>
        </p:txBody>
      </p:sp>
      <p:sp>
        <p:nvSpPr>
          <p:cNvPr id="5" name="TextBox 4"/>
          <p:cNvSpPr txBox="1"/>
          <p:nvPr/>
        </p:nvSpPr>
        <p:spPr>
          <a:xfrm>
            <a:off x="731520" y="1508760"/>
            <a:ext cx="10515600" cy="548640"/>
          </a:xfrm>
          <a:prstGeom prst="rect">
            <a:avLst/>
          </a:prstGeom>
          <a:noFill/>
        </p:spPr>
        <p:txBody>
          <a:bodyPr wrap="square">
            <a:spAutoFit/>
          </a:bodyPr>
          <a:lstStyle/>
          <a:p>
            <a:pPr>
              <a:defRPr sz="1400">
                <a:solidFill>
                  <a:srgbClr val="94A3B8"/>
                </a:solidFill>
              </a:defRPr>
            </a:pPr>
            <a:r>
              <a:t>A 5-step deterministic, audit-proof pipeline from raw voice/text to external execution:</a:t>
            </a:r>
          </a:p>
        </p:txBody>
      </p:sp>
      <p:sp>
        <p:nvSpPr>
          <p:cNvPr id="6" name="Rounded Rectangle 5"/>
          <p:cNvSpPr/>
          <p:nvPr/>
        </p:nvSpPr>
        <p:spPr>
          <a:xfrm>
            <a:off x="731520" y="2377440"/>
            <a:ext cx="2011680" cy="2286000"/>
          </a:xfrm>
          <a:prstGeom prst="roundRect">
            <a:avLst/>
          </a:prstGeom>
          <a:solidFill>
            <a:srgbClr val="121826"/>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3B82F6"/>
                </a:solidFill>
              </a:defRPr>
            </a:pPr>
            <a:r>
              <a:t>🎙️ 01. INGEST</a:t>
            </a:r>
          </a:p>
          <a:p>
            <a:pPr>
              <a:spcBef>
                <a:spcPts val="800"/>
              </a:spcBef>
              <a:defRPr sz="1100">
                <a:solidFill>
                  <a:srgbClr val="94A3B8"/>
                </a:solidFill>
              </a:defRPr>
            </a:pPr>
            <a:r>
              <a:t>Web Speech API / Voice memos / PDFs / Meeting transcripts</a:t>
            </a:r>
          </a:p>
        </p:txBody>
      </p:sp>
      <p:sp>
        <p:nvSpPr>
          <p:cNvPr id="7" name="Rounded Rectangle 6"/>
          <p:cNvSpPr/>
          <p:nvPr/>
        </p:nvSpPr>
        <p:spPr>
          <a:xfrm>
            <a:off x="2907791" y="2377440"/>
            <a:ext cx="2011680" cy="2286000"/>
          </a:xfrm>
          <a:prstGeom prst="roundRect">
            <a:avLst/>
          </a:prstGeom>
          <a:solidFill>
            <a:srgbClr val="121826"/>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3B82F6"/>
                </a:solidFill>
              </a:defRPr>
            </a:pPr>
            <a:r>
              <a:t>🎯 02. GROUND</a:t>
            </a:r>
          </a:p>
          <a:p>
            <a:pPr>
              <a:spcBef>
                <a:spcPts val="800"/>
              </a:spcBef>
              <a:defRPr sz="1100">
                <a:solidFill>
                  <a:srgbClr val="94A3B8"/>
                </a:solidFill>
              </a:defRPr>
            </a:pPr>
            <a:r>
              <a:t>Extract actions linked to exact character offsets &amp; quotes</a:t>
            </a:r>
          </a:p>
        </p:txBody>
      </p:sp>
      <p:sp>
        <p:nvSpPr>
          <p:cNvPr id="8" name="Rounded Rectangle 7"/>
          <p:cNvSpPr/>
          <p:nvPr/>
        </p:nvSpPr>
        <p:spPr>
          <a:xfrm>
            <a:off x="5084064" y="2377440"/>
            <a:ext cx="2011680" cy="2286000"/>
          </a:xfrm>
          <a:prstGeom prst="roundRect">
            <a:avLst/>
          </a:prstGeom>
          <a:solidFill>
            <a:srgbClr val="12182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59E0B"/>
                </a:solidFill>
              </a:defRPr>
            </a:pPr>
            <a:r>
              <a:t>⚔️ 03. CONFLICT</a:t>
            </a:r>
          </a:p>
          <a:p>
            <a:pPr>
              <a:spcBef>
                <a:spcPts val="800"/>
              </a:spcBef>
              <a:defRPr sz="1100">
                <a:solidFill>
                  <a:srgbClr val="94A3B8"/>
                </a:solidFill>
              </a:defRPr>
            </a:pPr>
            <a:r>
              <a:t>Detect contradictory dates &amp; trigger human override</a:t>
            </a:r>
          </a:p>
        </p:txBody>
      </p:sp>
      <p:sp>
        <p:nvSpPr>
          <p:cNvPr id="9" name="Rounded Rectangle 8"/>
          <p:cNvSpPr/>
          <p:nvPr/>
        </p:nvSpPr>
        <p:spPr>
          <a:xfrm>
            <a:off x="7260336" y="2377440"/>
            <a:ext cx="2011680" cy="2286000"/>
          </a:xfrm>
          <a:prstGeom prst="roundRect">
            <a:avLst/>
          </a:prstGeom>
          <a:solidFill>
            <a:srgbClr val="12182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10B981"/>
                </a:solidFill>
              </a:defRPr>
            </a:pPr>
            <a:r>
              <a:t>🛡️ 04. SIGN-OFF</a:t>
            </a:r>
          </a:p>
          <a:p>
            <a:pPr>
              <a:spcBef>
                <a:spcPts val="800"/>
              </a:spcBef>
              <a:defRPr sz="1100">
                <a:solidFill>
                  <a:srgbClr val="94A3B8"/>
                </a:solidFill>
              </a:defRPr>
            </a:pPr>
            <a:r>
              <a:t>Human approval gate with immutable audit logging</a:t>
            </a:r>
          </a:p>
        </p:txBody>
      </p:sp>
      <p:sp>
        <p:nvSpPr>
          <p:cNvPr id="10" name="Rounded Rectangle 9"/>
          <p:cNvSpPr/>
          <p:nvPr/>
        </p:nvSpPr>
        <p:spPr>
          <a:xfrm>
            <a:off x="9436608" y="2377440"/>
            <a:ext cx="2011680" cy="2286000"/>
          </a:xfrm>
          <a:prstGeom prst="roundRect">
            <a:avLst/>
          </a:prstGeom>
          <a:solidFill>
            <a:srgbClr val="12182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10B981"/>
                </a:solidFill>
              </a:defRPr>
            </a:pPr>
            <a:r>
              <a:t>🚀 05. DISPATCH</a:t>
            </a:r>
          </a:p>
          <a:p>
            <a:pPr>
              <a:spcBef>
                <a:spcPts val="800"/>
              </a:spcBef>
              <a:defRPr sz="1100">
                <a:solidFill>
                  <a:srgbClr val="94A3B8"/>
                </a:solidFill>
              </a:defRPr>
            </a:pPr>
            <a:r>
              <a:t>Direct sync to Google Calendar, Slack, GitHub, Email</a:t>
            </a:r>
          </a:p>
        </p:txBody>
      </p:sp>
      <p:sp>
        <p:nvSpPr>
          <p:cNvPr id="11" name="Rectangle 10"/>
          <p:cNvSpPr/>
          <p:nvPr/>
        </p:nvSpPr>
        <p:spPr>
          <a:xfrm>
            <a:off x="731520" y="4937760"/>
            <a:ext cx="10698480" cy="1280160"/>
          </a:xfrm>
          <a:prstGeom prst="rect">
            <a:avLst/>
          </a:prstGeom>
          <a:solidFill>
            <a:srgbClr val="0F141E"/>
          </a:solidFill>
          <a:ln>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3B82F6"/>
                </a:solidFill>
              </a:defRPr>
            </a:pPr>
            <a:r>
              <a:t>// Grounded Provenance Engine Output:</a:t>
            </a:r>
          </a:p>
          <a:p>
            <a:pPr>
              <a:defRPr b="1" sz="1200">
                <a:solidFill>
                  <a:srgbClr val="F8FAFC"/>
                </a:solidFill>
              </a:defRPr>
            </a:pPr>
            <a:r>
              <a:t>Task: "Prepare Q3 Security Remediation Brief"  |  Due: "2026-10-24"  |  Confidence: 94%</a:t>
            </a:r>
          </a:p>
          <a:p>
            <a:pPr>
              <a:defRPr sz="1100">
                <a:solidFill>
                  <a:srgbClr val="F59E0B"/>
                </a:solidFill>
              </a:defRPr>
            </a:pPr>
            <a:r>
              <a:t>Evidence Quote: "Audit findings require compliance brief by Oct 24 latest" (Chars 142-198) [PROVENANCE_CONFIRMED]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65760"/>
          </a:xfrm>
          <a:prstGeom prst="rect">
            <a:avLst/>
          </a:prstGeom>
          <a:noFill/>
        </p:spPr>
        <p:txBody>
          <a:bodyPr wrap="square">
            <a:spAutoFit/>
          </a:bodyPr>
          <a:lstStyle/>
          <a:p>
            <a:pPr>
              <a:defRPr b="1" sz="1100">
                <a:solidFill>
                  <a:srgbClr val="3B82F6"/>
                </a:solidFill>
              </a:defRPr>
            </a:pPr>
            <a:r>
              <a:t>FEATURE SHOWCASE</a:t>
            </a:r>
          </a:p>
        </p:txBody>
      </p:sp>
      <p:sp>
        <p:nvSpPr>
          <p:cNvPr id="4" name="TextBox 3"/>
          <p:cNvSpPr txBox="1"/>
          <p:nvPr/>
        </p:nvSpPr>
        <p:spPr>
          <a:xfrm>
            <a:off x="731520" y="731520"/>
            <a:ext cx="10515600" cy="822960"/>
          </a:xfrm>
          <a:prstGeom prst="rect">
            <a:avLst/>
          </a:prstGeom>
          <a:noFill/>
        </p:spPr>
        <p:txBody>
          <a:bodyPr wrap="square">
            <a:spAutoFit/>
          </a:bodyPr>
          <a:lstStyle/>
          <a:p>
            <a:pPr>
              <a:defRPr b="1" sz="2800">
                <a:solidFill>
                  <a:srgbClr val="F8FAFC"/>
                </a:solidFill>
              </a:defRPr>
            </a:pPr>
            <a:r>
              <a:t>5 Hackathon-Winning Core Capabilities</a:t>
            </a:r>
          </a:p>
        </p:txBody>
      </p:sp>
      <p:sp>
        <p:nvSpPr>
          <p:cNvPr id="5" name="TextBox 4"/>
          <p:cNvSpPr txBox="1"/>
          <p:nvPr/>
        </p:nvSpPr>
        <p:spPr>
          <a:xfrm>
            <a:off x="731520" y="1508760"/>
            <a:ext cx="10515600" cy="548640"/>
          </a:xfrm>
          <a:prstGeom prst="rect">
            <a:avLst/>
          </a:prstGeom>
          <a:noFill/>
        </p:spPr>
        <p:txBody>
          <a:bodyPr wrap="square">
            <a:spAutoFit/>
          </a:bodyPr>
          <a:lstStyle/>
          <a:p>
            <a:pPr>
              <a:defRPr sz="1400">
                <a:solidFill>
                  <a:srgbClr val="94A3B8"/>
                </a:solidFill>
              </a:defRPr>
            </a:pPr>
            <a:r>
              <a:t>Built, tested, and running live in production:</a:t>
            </a:r>
          </a:p>
        </p:txBody>
      </p:sp>
      <p:sp>
        <p:nvSpPr>
          <p:cNvPr id="6" name="Rounded Rectangle 5"/>
          <p:cNvSpPr/>
          <p:nvPr/>
        </p:nvSpPr>
        <p:spPr>
          <a:xfrm>
            <a:off x="731520" y="2286000"/>
            <a:ext cx="3291840" cy="1920240"/>
          </a:xfrm>
          <a:prstGeom prst="roundRect">
            <a:avLst/>
          </a:prstGeom>
          <a:solidFill>
            <a:srgbClr val="121826"/>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468880"/>
            <a:ext cx="2926080" cy="1554480"/>
          </a:xfrm>
          <a:prstGeom prst="rect">
            <a:avLst/>
          </a:prstGeom>
          <a:noFill/>
        </p:spPr>
        <p:txBody>
          <a:bodyPr wrap="square">
            <a:spAutoFit/>
          </a:bodyPr>
          <a:lstStyle/>
          <a:p>
            <a:pPr>
              <a:defRPr b="1" sz="1700">
                <a:solidFill>
                  <a:srgbClr val="F8FAFC"/>
                </a:solidFill>
              </a:defRPr>
            </a:pPr>
            <a:r>
              <a:t>🎙️  1. Live Voice Recording</a:t>
            </a:r>
          </a:p>
          <a:p>
            <a:pPr>
              <a:spcBef>
                <a:spcPts val="800"/>
              </a:spcBef>
              <a:defRPr sz="1300">
                <a:solidFill>
                  <a:srgbClr val="94A3B8"/>
                </a:solidFill>
              </a:defRPr>
            </a:pPr>
            <a:r>
              <a:t>Real-time meeting note dictation using Web Speech API with streaming waveform &amp; instant extraction.</a:t>
            </a:r>
          </a:p>
        </p:txBody>
      </p:sp>
      <p:sp>
        <p:nvSpPr>
          <p:cNvPr id="8" name="Rounded Rectangle 7"/>
          <p:cNvSpPr/>
          <p:nvPr/>
        </p:nvSpPr>
        <p:spPr>
          <a:xfrm>
            <a:off x="4389120" y="2286000"/>
            <a:ext cx="3291840" cy="1920240"/>
          </a:xfrm>
          <a:prstGeom prst="roundRect">
            <a:avLst/>
          </a:prstGeom>
          <a:solidFill>
            <a:srgbClr val="121826"/>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468880"/>
            <a:ext cx="2926080" cy="1554480"/>
          </a:xfrm>
          <a:prstGeom prst="rect">
            <a:avLst/>
          </a:prstGeom>
          <a:noFill/>
        </p:spPr>
        <p:txBody>
          <a:bodyPr wrap="square">
            <a:spAutoFit/>
          </a:bodyPr>
          <a:lstStyle/>
          <a:p>
            <a:pPr>
              <a:defRPr b="1" sz="1700">
                <a:solidFill>
                  <a:srgbClr val="F8FAFC"/>
                </a:solidFill>
              </a:defRPr>
            </a:pPr>
            <a:r>
              <a:t>⚡  2. 1-Click Demo Scenarios</a:t>
            </a:r>
          </a:p>
          <a:p>
            <a:pPr>
              <a:spcBef>
                <a:spcPts val="800"/>
              </a:spcBef>
              <a:defRPr sz="1300">
                <a:solidFill>
                  <a:srgbClr val="94A3B8"/>
                </a:solidFill>
              </a:defRPr>
            </a:pPr>
            <a:r>
              <a:t>3 pre-loaded real-world stress tests: Product Launch, SOC-2 Incident, and Executive Offsite.</a:t>
            </a:r>
          </a:p>
        </p:txBody>
      </p:sp>
      <p:sp>
        <p:nvSpPr>
          <p:cNvPr id="10" name="Rounded Rectangle 9"/>
          <p:cNvSpPr/>
          <p:nvPr/>
        </p:nvSpPr>
        <p:spPr>
          <a:xfrm>
            <a:off x="8046720" y="2286000"/>
            <a:ext cx="3291840" cy="1920240"/>
          </a:xfrm>
          <a:prstGeom prst="roundRect">
            <a:avLst/>
          </a:prstGeom>
          <a:solidFill>
            <a:srgbClr val="121826"/>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2468880"/>
            <a:ext cx="2926080" cy="1554480"/>
          </a:xfrm>
          <a:prstGeom prst="rect">
            <a:avLst/>
          </a:prstGeom>
          <a:noFill/>
        </p:spPr>
        <p:txBody>
          <a:bodyPr wrap="square">
            <a:spAutoFit/>
          </a:bodyPr>
          <a:lstStyle/>
          <a:p>
            <a:pPr>
              <a:defRPr b="1" sz="1700">
                <a:solidFill>
                  <a:srgbClr val="F8FAFC"/>
                </a:solidFill>
              </a:defRPr>
            </a:pPr>
            <a:r>
              <a:t>🔍  3. Side-by-Side Highlighting</a:t>
            </a:r>
          </a:p>
          <a:p>
            <a:pPr>
              <a:spcBef>
                <a:spcPts val="800"/>
              </a:spcBef>
              <a:defRPr sz="1300">
                <a:solidFill>
                  <a:srgbClr val="94A3B8"/>
                </a:solidFill>
              </a:defRPr>
            </a:pPr>
            <a:r>
              <a:t>Document Inspector with glowing amber &lt;mark&gt; tags proving zero hallucination.</a:t>
            </a:r>
          </a:p>
        </p:txBody>
      </p:sp>
      <p:sp>
        <p:nvSpPr>
          <p:cNvPr id="12" name="Rounded Rectangle 11"/>
          <p:cNvSpPr/>
          <p:nvPr/>
        </p:nvSpPr>
        <p:spPr>
          <a:xfrm>
            <a:off x="731520" y="4389120"/>
            <a:ext cx="5120640" cy="1828800"/>
          </a:xfrm>
          <a:prstGeom prst="roundRect">
            <a:avLst/>
          </a:prstGeom>
          <a:solidFill>
            <a:srgbClr val="12182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572000"/>
            <a:ext cx="4754880" cy="1463040"/>
          </a:xfrm>
          <a:prstGeom prst="rect">
            <a:avLst/>
          </a:prstGeom>
          <a:noFill/>
        </p:spPr>
        <p:txBody>
          <a:bodyPr wrap="square">
            <a:spAutoFit/>
          </a:bodyPr>
          <a:lstStyle/>
          <a:p>
            <a:pPr>
              <a:defRPr b="1" sz="1700">
                <a:solidFill>
                  <a:srgbClr val="F8FAFC"/>
                </a:solidFill>
              </a:defRPr>
            </a:pPr>
            <a:r>
              <a:t>⚔️  4. Interactive AI Conflict Resolver</a:t>
            </a:r>
          </a:p>
          <a:p>
            <a:pPr>
              <a:spcBef>
                <a:spcPts val="800"/>
              </a:spcBef>
              <a:defRPr sz="1300">
                <a:solidFill>
                  <a:srgbClr val="94A3B8"/>
                </a:solidFill>
              </a:defRPr>
            </a:pPr>
            <a:r>
              <a:t>Detects opposing deadlines side-by-side, provides context reasoning, and applies 1-click human resolution with audit trail.</a:t>
            </a:r>
          </a:p>
        </p:txBody>
      </p:sp>
      <p:sp>
        <p:nvSpPr>
          <p:cNvPr id="14" name="Rounded Rectangle 13"/>
          <p:cNvSpPr/>
          <p:nvPr/>
        </p:nvSpPr>
        <p:spPr>
          <a:xfrm>
            <a:off x="6217920" y="4389120"/>
            <a:ext cx="5120640" cy="1828800"/>
          </a:xfrm>
          <a:prstGeom prst="roundRect">
            <a:avLst/>
          </a:prstGeom>
          <a:solidFill>
            <a:srgbClr val="12182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572000"/>
            <a:ext cx="4754880" cy="1463040"/>
          </a:xfrm>
          <a:prstGeom prst="rect">
            <a:avLst/>
          </a:prstGeom>
          <a:noFill/>
        </p:spPr>
        <p:txBody>
          <a:bodyPr wrap="square">
            <a:spAutoFit/>
          </a:bodyPr>
          <a:lstStyle/>
          <a:p>
            <a:pPr>
              <a:defRPr b="1" sz="1700">
                <a:solidFill>
                  <a:srgbClr val="F8FAFC"/>
                </a:solidFill>
              </a:defRPr>
            </a:pPr>
            <a:r>
              <a:t>🚀  5. 1-Click Dispatch Hub + Dry-Run</a:t>
            </a:r>
          </a:p>
          <a:p>
            <a:pPr>
              <a:spcBef>
                <a:spcPts val="800"/>
              </a:spcBef>
              <a:defRPr sz="1300">
                <a:solidFill>
                  <a:srgbClr val="94A3B8"/>
                </a:solidFill>
              </a:defRPr>
            </a:pPr>
            <a:r>
              <a:t>Google Calendar URL prefill, Slack webhook dispatch, GitHub issue generator, plus a risk-free demo simulation toggle.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65760"/>
          </a:xfrm>
          <a:prstGeom prst="rect">
            <a:avLst/>
          </a:prstGeom>
          <a:noFill/>
        </p:spPr>
        <p:txBody>
          <a:bodyPr wrap="square">
            <a:spAutoFit/>
          </a:bodyPr>
          <a:lstStyle/>
          <a:p>
            <a:pPr>
              <a:defRPr b="1" sz="1100">
                <a:solidFill>
                  <a:srgbClr val="3B82F6"/>
                </a:solidFill>
              </a:defRPr>
            </a:pPr>
            <a:r>
              <a:t>DEMONSTRATION</a:t>
            </a:r>
          </a:p>
        </p:txBody>
      </p:sp>
      <p:sp>
        <p:nvSpPr>
          <p:cNvPr id="4" name="TextBox 3"/>
          <p:cNvSpPr txBox="1"/>
          <p:nvPr/>
        </p:nvSpPr>
        <p:spPr>
          <a:xfrm>
            <a:off x="731520" y="731520"/>
            <a:ext cx="10515600" cy="822960"/>
          </a:xfrm>
          <a:prstGeom prst="rect">
            <a:avLst/>
          </a:prstGeom>
          <a:noFill/>
        </p:spPr>
        <p:txBody>
          <a:bodyPr wrap="square">
            <a:spAutoFit/>
          </a:bodyPr>
          <a:lstStyle/>
          <a:p>
            <a:pPr>
              <a:defRPr b="1" sz="2800">
                <a:solidFill>
                  <a:srgbClr val="F8FAFC"/>
                </a:solidFill>
              </a:defRPr>
            </a:pPr>
            <a:r>
              <a:t>Live Demo: 90-Second Winning Choreography</a:t>
            </a:r>
          </a:p>
        </p:txBody>
      </p:sp>
      <p:sp>
        <p:nvSpPr>
          <p:cNvPr id="5" name="TextBox 4"/>
          <p:cNvSpPr txBox="1"/>
          <p:nvPr/>
        </p:nvSpPr>
        <p:spPr>
          <a:xfrm>
            <a:off x="731520" y="1508760"/>
            <a:ext cx="10515600" cy="548640"/>
          </a:xfrm>
          <a:prstGeom prst="rect">
            <a:avLst/>
          </a:prstGeom>
          <a:noFill/>
        </p:spPr>
        <p:txBody>
          <a:bodyPr wrap="square">
            <a:spAutoFit/>
          </a:bodyPr>
          <a:lstStyle/>
          <a:p>
            <a:pPr>
              <a:defRPr sz="1400">
                <a:solidFill>
                  <a:srgbClr val="94A3B8"/>
                </a:solidFill>
              </a:defRPr>
            </a:pPr>
            <a:r>
              <a:t>How to present the live application to judges with zero friction:</a:t>
            </a:r>
          </a:p>
        </p:txBody>
      </p:sp>
      <p:sp>
        <p:nvSpPr>
          <p:cNvPr id="6" name="Rounded Rectangle 5"/>
          <p:cNvSpPr/>
          <p:nvPr/>
        </p:nvSpPr>
        <p:spPr>
          <a:xfrm>
            <a:off x="731520" y="2286000"/>
            <a:ext cx="5120640" cy="1188720"/>
          </a:xfrm>
          <a:prstGeom prst="roundRect">
            <a:avLst/>
          </a:prstGeom>
          <a:solidFill>
            <a:srgbClr val="121826"/>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468880"/>
            <a:ext cx="4754880" cy="822960"/>
          </a:xfrm>
          <a:prstGeom prst="rect">
            <a:avLst/>
          </a:prstGeom>
          <a:noFill/>
        </p:spPr>
        <p:txBody>
          <a:bodyPr wrap="square">
            <a:spAutoFit/>
          </a:bodyPr>
          <a:lstStyle/>
          <a:p>
            <a:pPr>
              <a:defRPr b="1" sz="1700">
                <a:solidFill>
                  <a:srgbClr val="F8FAFC"/>
                </a:solidFill>
              </a:defRPr>
            </a:pPr>
            <a:r>
              <a:t>1️⃣  Step 1: 1-Click Scenario Load</a:t>
            </a:r>
          </a:p>
          <a:p>
            <a:pPr>
              <a:spcBef>
                <a:spcPts val="800"/>
              </a:spcBef>
              <a:defRPr sz="1300">
                <a:solidFill>
                  <a:srgbClr val="94A3B8"/>
                </a:solidFill>
              </a:defRPr>
            </a:pPr>
            <a:r>
              <a:t>Select '⚡ Load Demo Scenario' -&gt; 'Product Launch (Conflicting Deadlines)'. Parsed in 1s.</a:t>
            </a:r>
          </a:p>
        </p:txBody>
      </p:sp>
      <p:sp>
        <p:nvSpPr>
          <p:cNvPr id="8" name="Rounded Rectangle 7"/>
          <p:cNvSpPr/>
          <p:nvPr/>
        </p:nvSpPr>
        <p:spPr>
          <a:xfrm>
            <a:off x="731520" y="3657600"/>
            <a:ext cx="5120640" cy="1188720"/>
          </a:xfrm>
          <a:prstGeom prst="roundRect">
            <a:avLst/>
          </a:prstGeom>
          <a:solidFill>
            <a:srgbClr val="121826"/>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840480"/>
            <a:ext cx="4754880" cy="822960"/>
          </a:xfrm>
          <a:prstGeom prst="rect">
            <a:avLst/>
          </a:prstGeom>
          <a:noFill/>
        </p:spPr>
        <p:txBody>
          <a:bodyPr wrap="square">
            <a:spAutoFit/>
          </a:bodyPr>
          <a:lstStyle/>
          <a:p>
            <a:pPr>
              <a:defRPr b="1" sz="1700">
                <a:solidFill>
                  <a:srgbClr val="F8FAFC"/>
                </a:solidFill>
              </a:defRPr>
            </a:pPr>
            <a:r>
              <a:t>2️⃣  Step 2: Prove Zero Hallucination</a:t>
            </a:r>
          </a:p>
          <a:p>
            <a:pPr>
              <a:spcBef>
                <a:spcPts val="800"/>
              </a:spcBef>
              <a:defRPr sz="1300">
                <a:solidFill>
                  <a:srgbClr val="94A3B8"/>
                </a:solidFill>
              </a:defRPr>
            </a:pPr>
            <a:r>
              <a:t>Click 'View in Source Context'. Shows radiant amber highlight of the exact original sentence.</a:t>
            </a:r>
          </a:p>
        </p:txBody>
      </p:sp>
      <p:sp>
        <p:nvSpPr>
          <p:cNvPr id="10" name="Rounded Rectangle 9"/>
          <p:cNvSpPr/>
          <p:nvPr/>
        </p:nvSpPr>
        <p:spPr>
          <a:xfrm>
            <a:off x="731520" y="5029200"/>
            <a:ext cx="5120640" cy="1188720"/>
          </a:xfrm>
          <a:prstGeom prst="roundRect">
            <a:avLst/>
          </a:prstGeom>
          <a:solidFill>
            <a:srgbClr val="12182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212080"/>
            <a:ext cx="4754880" cy="822960"/>
          </a:xfrm>
          <a:prstGeom prst="rect">
            <a:avLst/>
          </a:prstGeom>
          <a:noFill/>
        </p:spPr>
        <p:txBody>
          <a:bodyPr wrap="square">
            <a:spAutoFit/>
          </a:bodyPr>
          <a:lstStyle/>
          <a:p>
            <a:pPr>
              <a:defRPr b="1" sz="1700">
                <a:solidFill>
                  <a:srgbClr val="F8FAFC"/>
                </a:solidFill>
              </a:defRPr>
            </a:pPr>
            <a:r>
              <a:t>3️⃣  Step 3: Resolve Conflict &amp; Dispatch</a:t>
            </a:r>
          </a:p>
          <a:p>
            <a:pPr>
              <a:spcBef>
                <a:spcPts val="800"/>
              </a:spcBef>
              <a:defRPr sz="1300">
                <a:solidFill>
                  <a:srgbClr val="94A3B8"/>
                </a:solidFill>
              </a:defRPr>
            </a:pPr>
            <a:r>
              <a:t>Click '⚡ Resolve with AI', pick Oct 20 freeze date, Approve, and dispatch to Google Calendar!</a:t>
            </a:r>
          </a:p>
        </p:txBody>
      </p:sp>
      <p:sp>
        <p:nvSpPr>
          <p:cNvPr id="12" name="Rounded Rectangle 11"/>
          <p:cNvSpPr/>
          <p:nvPr/>
        </p:nvSpPr>
        <p:spPr>
          <a:xfrm>
            <a:off x="6217920" y="2286000"/>
            <a:ext cx="5120640" cy="3931920"/>
          </a:xfrm>
          <a:prstGeom prst="roundRect">
            <a:avLst/>
          </a:prstGeom>
          <a:solidFill>
            <a:srgbClr val="161C2D"/>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F59E0B"/>
                </a:solidFill>
              </a:defRPr>
            </a:pPr>
            <a:r>
              <a:t>⚡ CONFLICT DETECTION CARD (LIVE UI)</a:t>
            </a:r>
          </a:p>
          <a:p>
            <a:pPr>
              <a:spcBef>
                <a:spcPts val="1000"/>
              </a:spcBef>
              <a:defRPr b="1" sz="1300">
                <a:solidFill>
                  <a:srgbClr val="F8FAFC"/>
                </a:solidFill>
              </a:defRPr>
            </a:pPr>
            <a:r>
              <a:t>Contradiction Detected:</a:t>
            </a:r>
          </a:p>
          <a:p>
            <a:pPr>
              <a:spcBef>
                <a:spcPts val="600"/>
              </a:spcBef>
              <a:defRPr sz="1200">
                <a:solidFill>
                  <a:srgbClr val="94A3B8"/>
                </a:solidFill>
              </a:defRPr>
            </a:pPr>
            <a:r>
              <a:t>• Priya (Product): 'Target launch on Nov 2'</a:t>
            </a:r>
            <a:br/>
            <a:r>
              <a:t>• DevOps Lead: 'Feature freeze required by Oct 20'</a:t>
            </a:r>
          </a:p>
          <a:p>
            <a:pPr>
              <a:spcBef>
                <a:spcPts val="1200"/>
              </a:spcBef>
              <a:defRPr b="1" sz="1300">
                <a:solidFill>
                  <a:srgbClr val="3B82F6"/>
                </a:solidFill>
              </a:defRPr>
            </a:pPr>
            <a:r>
              <a:t>AI Recommendation:</a:t>
            </a:r>
          </a:p>
          <a:p>
            <a:pPr>
              <a:spcBef>
                <a:spcPts val="400"/>
              </a:spcBef>
              <a:defRPr sz="1200">
                <a:solidFill>
                  <a:srgbClr val="93C5FD"/>
                </a:solidFill>
              </a:defRPr>
            </a:pPr>
            <a:r>
              <a:t>'Adopt Oct 20 freeze to prevent unstable release. Target Nov 2 for public marketing rollout.'</a:t>
            </a:r>
          </a:p>
          <a:p>
            <a:pPr>
              <a:spcBef>
                <a:spcPts val="1400"/>
              </a:spcBef>
              <a:defRPr b="1" sz="1200">
                <a:solidFill>
                  <a:srgbClr val="10B981"/>
                </a:solidFill>
              </a:defRPr>
            </a:pPr>
            <a:r>
              <a:t>Action: [Resolve with Oct 20] -&gt; Logged to Audit Trail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65760"/>
          </a:xfrm>
          <a:prstGeom prst="rect">
            <a:avLst/>
          </a:prstGeom>
          <a:noFill/>
        </p:spPr>
        <p:txBody>
          <a:bodyPr wrap="square">
            <a:spAutoFit/>
          </a:bodyPr>
          <a:lstStyle/>
          <a:p>
            <a:pPr>
              <a:defRPr b="1" sz="1100">
                <a:solidFill>
                  <a:srgbClr val="3B82F6"/>
                </a:solidFill>
              </a:defRPr>
            </a:pPr>
            <a:r>
              <a:t>ENGINEERING DEPTH</a:t>
            </a:r>
          </a:p>
        </p:txBody>
      </p:sp>
      <p:sp>
        <p:nvSpPr>
          <p:cNvPr id="4" name="TextBox 3"/>
          <p:cNvSpPr txBox="1"/>
          <p:nvPr/>
        </p:nvSpPr>
        <p:spPr>
          <a:xfrm>
            <a:off x="731520" y="731520"/>
            <a:ext cx="10515600" cy="822960"/>
          </a:xfrm>
          <a:prstGeom prst="rect">
            <a:avLst/>
          </a:prstGeom>
          <a:noFill/>
        </p:spPr>
        <p:txBody>
          <a:bodyPr wrap="square">
            <a:spAutoFit/>
          </a:bodyPr>
          <a:lstStyle/>
          <a:p>
            <a:pPr>
              <a:defRPr b="1" sz="2800">
                <a:solidFill>
                  <a:srgbClr val="F8FAFC"/>
                </a:solidFill>
              </a:defRPr>
            </a:pPr>
            <a:r>
              <a:t>Production-Grade Stack &amp; Enterprise Security</a:t>
            </a:r>
          </a:p>
        </p:txBody>
      </p:sp>
      <p:sp>
        <p:nvSpPr>
          <p:cNvPr id="5" name="TextBox 4"/>
          <p:cNvSpPr txBox="1"/>
          <p:nvPr/>
        </p:nvSpPr>
        <p:spPr>
          <a:xfrm>
            <a:off x="731520" y="1508760"/>
            <a:ext cx="10515600" cy="548640"/>
          </a:xfrm>
          <a:prstGeom prst="rect">
            <a:avLst/>
          </a:prstGeom>
          <a:noFill/>
        </p:spPr>
        <p:txBody>
          <a:bodyPr wrap="square">
            <a:spAutoFit/>
          </a:bodyPr>
          <a:lstStyle/>
          <a:p>
            <a:pPr>
              <a:defRPr sz="1400">
                <a:solidFill>
                  <a:srgbClr val="94A3B8"/>
                </a:solidFill>
              </a:defRPr>
            </a:pPr>
            <a:r>
              <a:t>Engineered with strict multi-tenant isolation and zero-downtime fail-safes:</a:t>
            </a:r>
          </a:p>
        </p:txBody>
      </p:sp>
      <p:sp>
        <p:nvSpPr>
          <p:cNvPr id="6" name="Rounded Rectangle 5"/>
          <p:cNvSpPr/>
          <p:nvPr/>
        </p:nvSpPr>
        <p:spPr>
          <a:xfrm>
            <a:off x="731520" y="2286000"/>
            <a:ext cx="2468880" cy="3840480"/>
          </a:xfrm>
          <a:prstGeom prst="roundRect">
            <a:avLst/>
          </a:prstGeom>
          <a:solidFill>
            <a:srgbClr val="121826"/>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468880"/>
            <a:ext cx="2103120" cy="3474720"/>
          </a:xfrm>
          <a:prstGeom prst="rect">
            <a:avLst/>
          </a:prstGeom>
          <a:noFill/>
        </p:spPr>
        <p:txBody>
          <a:bodyPr wrap="square">
            <a:spAutoFit/>
          </a:bodyPr>
          <a:lstStyle/>
          <a:p>
            <a:pPr>
              <a:defRPr b="1" sz="1700">
                <a:solidFill>
                  <a:srgbClr val="F8FAFC"/>
                </a:solidFill>
              </a:defRPr>
            </a:pPr>
            <a:r>
              <a:t>⚛️  Frontend</a:t>
            </a:r>
          </a:p>
          <a:p>
            <a:pPr>
              <a:spcBef>
                <a:spcPts val="800"/>
              </a:spcBef>
              <a:defRPr sz="1300">
                <a:solidFill>
                  <a:srgbClr val="94A3B8"/>
                </a:solidFill>
              </a:defRPr>
            </a:pPr>
            <a:r>
              <a:t>• React 18 + Vite</a:t>
            </a:r>
            <a:br/>
            <a:r>
              <a:t>• TypeScript</a:t>
            </a:r>
            <a:br/>
            <a:r>
              <a:t>• Web Speech API</a:t>
            </a:r>
            <a:br/>
            <a:r>
              <a:t>• Responsive Dark UI</a:t>
            </a:r>
            <a:br/>
            <a:r>
              <a:t>• Sub-second renders</a:t>
            </a:r>
            <a:br/>
            <a:r>
              <a:t>• Zero CORS proxy</a:t>
            </a:r>
          </a:p>
        </p:txBody>
      </p:sp>
      <p:sp>
        <p:nvSpPr>
          <p:cNvPr id="8" name="Rounded Rectangle 7"/>
          <p:cNvSpPr/>
          <p:nvPr/>
        </p:nvSpPr>
        <p:spPr>
          <a:xfrm>
            <a:off x="3474720" y="2286000"/>
            <a:ext cx="2468880" cy="3840480"/>
          </a:xfrm>
          <a:prstGeom prst="roundRect">
            <a:avLst/>
          </a:prstGeom>
          <a:solidFill>
            <a:srgbClr val="121826"/>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2468880"/>
            <a:ext cx="2103120" cy="3474720"/>
          </a:xfrm>
          <a:prstGeom prst="rect">
            <a:avLst/>
          </a:prstGeom>
          <a:noFill/>
        </p:spPr>
        <p:txBody>
          <a:bodyPr wrap="square">
            <a:spAutoFit/>
          </a:bodyPr>
          <a:lstStyle/>
          <a:p>
            <a:pPr>
              <a:defRPr b="1" sz="1700">
                <a:solidFill>
                  <a:srgbClr val="F8FAFC"/>
                </a:solidFill>
              </a:defRPr>
            </a:pPr>
            <a:r>
              <a:t>🐍  Backend API</a:t>
            </a:r>
          </a:p>
          <a:p>
            <a:pPr>
              <a:spcBef>
                <a:spcPts val="800"/>
              </a:spcBef>
              <a:defRPr sz="1300">
                <a:solidFill>
                  <a:srgbClr val="94A3B8"/>
                </a:solidFill>
              </a:defRPr>
            </a:pPr>
            <a:r>
              <a:t>• FastAPI (Python 3.11)</a:t>
            </a:r>
            <a:br/>
            <a:r>
              <a:t>• High-throughput async ASGI routes</a:t>
            </a:r>
            <a:br/>
            <a:r>
              <a:t>• Auto-generated OpenAPI / Swagger docs</a:t>
            </a:r>
            <a:br/>
            <a:r>
              <a:t>• Pytest automated test suite</a:t>
            </a:r>
          </a:p>
        </p:txBody>
      </p:sp>
      <p:sp>
        <p:nvSpPr>
          <p:cNvPr id="10" name="Rounded Rectangle 9"/>
          <p:cNvSpPr/>
          <p:nvPr/>
        </p:nvSpPr>
        <p:spPr>
          <a:xfrm>
            <a:off x="6217920" y="2286000"/>
            <a:ext cx="2468880" cy="3840480"/>
          </a:xfrm>
          <a:prstGeom prst="roundRect">
            <a:avLst/>
          </a:prstGeom>
          <a:solidFill>
            <a:srgbClr val="12182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468880"/>
            <a:ext cx="2103120" cy="3474720"/>
          </a:xfrm>
          <a:prstGeom prst="rect">
            <a:avLst/>
          </a:prstGeom>
          <a:noFill/>
        </p:spPr>
        <p:txBody>
          <a:bodyPr wrap="square">
            <a:spAutoFit/>
          </a:bodyPr>
          <a:lstStyle/>
          <a:p>
            <a:pPr>
              <a:defRPr b="1" sz="1700">
                <a:solidFill>
                  <a:srgbClr val="F8FAFC"/>
                </a:solidFill>
              </a:defRPr>
            </a:pPr>
            <a:r>
              <a:t>🔐  Tenant Auth</a:t>
            </a:r>
          </a:p>
          <a:p>
            <a:pPr>
              <a:spcBef>
                <a:spcPts val="800"/>
              </a:spcBef>
              <a:defRPr sz="1300">
                <a:solidFill>
                  <a:srgbClr val="94A3B8"/>
                </a:solidFill>
              </a:defRPr>
            </a:pPr>
            <a:r>
              <a:t>• PBKDF2-SHA256 password hashing</a:t>
            </a:r>
            <a:br/>
            <a:r>
              <a:t>• Cryptographic JWT tokens</a:t>
            </a:r>
            <a:br/>
            <a:r>
              <a:t>• 6-digit Gmail OTP verification</a:t>
            </a:r>
            <a:br/>
            <a:r>
              <a:t>• Tenant-isolated SQLite schemas</a:t>
            </a:r>
          </a:p>
        </p:txBody>
      </p:sp>
      <p:sp>
        <p:nvSpPr>
          <p:cNvPr id="12" name="Rounded Rectangle 11"/>
          <p:cNvSpPr/>
          <p:nvPr/>
        </p:nvSpPr>
        <p:spPr>
          <a:xfrm>
            <a:off x="8961120" y="2286000"/>
            <a:ext cx="2468880" cy="3840480"/>
          </a:xfrm>
          <a:prstGeom prst="roundRect">
            <a:avLst/>
          </a:prstGeom>
          <a:solidFill>
            <a:srgbClr val="12182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0" y="2468880"/>
            <a:ext cx="2103120" cy="3474720"/>
          </a:xfrm>
          <a:prstGeom prst="rect">
            <a:avLst/>
          </a:prstGeom>
          <a:noFill/>
        </p:spPr>
        <p:txBody>
          <a:bodyPr wrap="square">
            <a:spAutoFit/>
          </a:bodyPr>
          <a:lstStyle/>
          <a:p>
            <a:pPr>
              <a:defRPr b="1" sz="1700">
                <a:solidFill>
                  <a:srgbClr val="F8FAFC"/>
                </a:solidFill>
              </a:defRPr>
            </a:pPr>
            <a:r>
              <a:t>🛡️  Offline Fallback</a:t>
            </a:r>
          </a:p>
          <a:p>
            <a:pPr>
              <a:spcBef>
                <a:spcPts val="800"/>
              </a:spcBef>
              <a:defRPr sz="1300">
                <a:solidFill>
                  <a:srgbClr val="94A3B8"/>
                </a:solidFill>
              </a:defRPr>
            </a:pPr>
            <a:r>
              <a:t>• Dual-Engine Architecture</a:t>
            </a:r>
            <a:br/>
            <a:r>
              <a:t>• If external LLMs fail or go offline, local regex heuristics execute seamlessly with zero downtime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65760"/>
          </a:xfrm>
          <a:prstGeom prst="rect">
            <a:avLst/>
          </a:prstGeom>
          <a:noFill/>
        </p:spPr>
        <p:txBody>
          <a:bodyPr wrap="square">
            <a:spAutoFit/>
          </a:bodyPr>
          <a:lstStyle/>
          <a:p>
            <a:pPr>
              <a:defRPr b="1" sz="1100">
                <a:solidFill>
                  <a:srgbClr val="3B82F6"/>
                </a:solidFill>
              </a:defRPr>
            </a:pPr>
            <a:r>
              <a:t>BUSINESS IMPACT</a:t>
            </a:r>
          </a:p>
        </p:txBody>
      </p:sp>
      <p:sp>
        <p:nvSpPr>
          <p:cNvPr id="4" name="TextBox 3"/>
          <p:cNvSpPr txBox="1"/>
          <p:nvPr/>
        </p:nvSpPr>
        <p:spPr>
          <a:xfrm>
            <a:off x="731520" y="731520"/>
            <a:ext cx="10515600" cy="822960"/>
          </a:xfrm>
          <a:prstGeom prst="rect">
            <a:avLst/>
          </a:prstGeom>
          <a:noFill/>
        </p:spPr>
        <p:txBody>
          <a:bodyPr wrap="square">
            <a:spAutoFit/>
          </a:bodyPr>
          <a:lstStyle/>
          <a:p>
            <a:pPr>
              <a:defRPr b="1" sz="2800">
                <a:solidFill>
                  <a:srgbClr val="F8FAFC"/>
                </a:solidFill>
              </a:defRPr>
            </a:pPr>
            <a:r>
              <a:t>Enterprise ROI &amp; Market Opportunity</a:t>
            </a:r>
          </a:p>
        </p:txBody>
      </p:sp>
      <p:sp>
        <p:nvSpPr>
          <p:cNvPr id="5" name="TextBox 4"/>
          <p:cNvSpPr txBox="1"/>
          <p:nvPr/>
        </p:nvSpPr>
        <p:spPr>
          <a:xfrm>
            <a:off x="731520" y="1508760"/>
            <a:ext cx="10515600" cy="548640"/>
          </a:xfrm>
          <a:prstGeom prst="rect">
            <a:avLst/>
          </a:prstGeom>
          <a:noFill/>
        </p:spPr>
        <p:txBody>
          <a:bodyPr wrap="square">
            <a:spAutoFit/>
          </a:bodyPr>
          <a:lstStyle/>
          <a:p>
            <a:pPr>
              <a:defRPr sz="1400">
                <a:solidFill>
                  <a:srgbClr val="94A3B8"/>
                </a:solidFill>
              </a:defRPr>
            </a:pPr>
            <a:r>
              <a:t>Transforming operational overhead into deterministic velocity:</a:t>
            </a:r>
          </a:p>
        </p:txBody>
      </p:sp>
      <p:sp>
        <p:nvSpPr>
          <p:cNvPr id="6" name="Rounded Rectangle 5"/>
          <p:cNvSpPr/>
          <p:nvPr/>
        </p:nvSpPr>
        <p:spPr>
          <a:xfrm>
            <a:off x="731520" y="2377440"/>
            <a:ext cx="3291840" cy="3749039"/>
          </a:xfrm>
          <a:prstGeom prst="roundRect">
            <a:avLst/>
          </a:prstGeom>
          <a:solidFill>
            <a:srgbClr val="12182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4400">
                <a:solidFill>
                  <a:srgbClr val="10B981"/>
                </a:solidFill>
              </a:defRPr>
            </a:pPr>
            <a:r>
              <a:t>92%</a:t>
            </a:r>
          </a:p>
          <a:p>
            <a:pPr>
              <a:spcBef>
                <a:spcPts val="1000"/>
              </a:spcBef>
              <a:defRPr b="1" sz="1800">
                <a:solidFill>
                  <a:srgbClr val="F8FAFC"/>
                </a:solidFill>
              </a:defRPr>
            </a:pPr>
            <a:r>
              <a:t>Cycle Time Reduction</a:t>
            </a:r>
          </a:p>
          <a:p>
            <a:pPr>
              <a:spcBef>
                <a:spcPts val="1200"/>
              </a:spcBef>
              <a:defRPr sz="1300">
                <a:solidFill>
                  <a:srgbClr val="94A3B8"/>
                </a:solidFill>
              </a:defRPr>
            </a:pPr>
            <a:r>
              <a:t>From meeting conclusion to external dispatch across Calendar &amp; Slack in under 60 seconds.</a:t>
            </a:r>
          </a:p>
        </p:txBody>
      </p:sp>
      <p:sp>
        <p:nvSpPr>
          <p:cNvPr id="7" name="Rounded Rectangle 6"/>
          <p:cNvSpPr/>
          <p:nvPr/>
        </p:nvSpPr>
        <p:spPr>
          <a:xfrm>
            <a:off x="4389120" y="2377440"/>
            <a:ext cx="3291840" cy="3749039"/>
          </a:xfrm>
          <a:prstGeom prst="roundRect">
            <a:avLst/>
          </a:prstGeom>
          <a:solidFill>
            <a:srgbClr val="121826"/>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4400">
                <a:solidFill>
                  <a:srgbClr val="3B82F6"/>
                </a:solidFill>
              </a:defRPr>
            </a:pPr>
            <a:r>
              <a:t>0%</a:t>
            </a:r>
          </a:p>
          <a:p>
            <a:pPr>
              <a:spcBef>
                <a:spcPts val="1000"/>
              </a:spcBef>
              <a:defRPr b="1" sz="1800">
                <a:solidFill>
                  <a:srgbClr val="F8FAFC"/>
                </a:solidFill>
              </a:defRPr>
            </a:pPr>
            <a:r>
              <a:t>Hallucination Rate</a:t>
            </a:r>
          </a:p>
          <a:p>
            <a:pPr>
              <a:spcBef>
                <a:spcPts val="1200"/>
              </a:spcBef>
              <a:defRPr sz="1300">
                <a:solidFill>
                  <a:srgbClr val="94A3B8"/>
                </a:solidFill>
              </a:defRPr>
            </a:pPr>
            <a:r>
              <a:t>Strict character-level quote provenance prevents AI from inventing ungrounded actions.</a:t>
            </a:r>
          </a:p>
        </p:txBody>
      </p:sp>
      <p:sp>
        <p:nvSpPr>
          <p:cNvPr id="8" name="Rounded Rectangle 7"/>
          <p:cNvSpPr/>
          <p:nvPr/>
        </p:nvSpPr>
        <p:spPr>
          <a:xfrm>
            <a:off x="8046720" y="2377440"/>
            <a:ext cx="3291840" cy="3749039"/>
          </a:xfrm>
          <a:prstGeom prst="roundRect">
            <a:avLst/>
          </a:prstGeom>
          <a:solidFill>
            <a:srgbClr val="12182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4400">
                <a:solidFill>
                  <a:srgbClr val="F59E0B"/>
                </a:solidFill>
              </a:defRPr>
            </a:pPr>
            <a:r>
              <a:t>100%</a:t>
            </a:r>
          </a:p>
          <a:p>
            <a:pPr>
              <a:spcBef>
                <a:spcPts val="1000"/>
              </a:spcBef>
              <a:defRPr b="1" sz="1800">
                <a:solidFill>
                  <a:srgbClr val="F8FAFC"/>
                </a:solidFill>
              </a:defRPr>
            </a:pPr>
            <a:r>
              <a:t>Audit Compliance</a:t>
            </a:r>
          </a:p>
          <a:p>
            <a:pPr>
              <a:spcBef>
                <a:spcPts val="1200"/>
              </a:spcBef>
              <a:defRPr sz="1300">
                <a:solidFill>
                  <a:srgbClr val="94A3B8"/>
                </a:solidFill>
              </a:defRPr>
            </a:pPr>
            <a:r>
              <a:t>Every resolution, edit, approval, and dispatch is cryptographically logged for SOC-2.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65760"/>
          </a:xfrm>
          <a:prstGeom prst="rect">
            <a:avLst/>
          </a:prstGeom>
          <a:noFill/>
        </p:spPr>
        <p:txBody>
          <a:bodyPr wrap="square">
            <a:spAutoFit/>
          </a:bodyPr>
          <a:lstStyle/>
          <a:p>
            <a:pPr>
              <a:defRPr b="1" sz="1100">
                <a:solidFill>
                  <a:srgbClr val="3B82F6"/>
                </a:solidFill>
              </a:defRPr>
            </a:pPr>
            <a:r>
              <a:t>THE FUTURE &amp; Q&amp;A</a:t>
            </a:r>
          </a:p>
        </p:txBody>
      </p:sp>
      <p:sp>
        <p:nvSpPr>
          <p:cNvPr id="4" name="TextBox 3"/>
          <p:cNvSpPr txBox="1"/>
          <p:nvPr/>
        </p:nvSpPr>
        <p:spPr>
          <a:xfrm>
            <a:off x="731520" y="731520"/>
            <a:ext cx="10515600" cy="822960"/>
          </a:xfrm>
          <a:prstGeom prst="rect">
            <a:avLst/>
          </a:prstGeom>
          <a:noFill/>
        </p:spPr>
        <p:txBody>
          <a:bodyPr wrap="square">
            <a:spAutoFit/>
          </a:bodyPr>
          <a:lstStyle/>
          <a:p>
            <a:pPr>
              <a:defRPr b="1" sz="2800">
                <a:solidFill>
                  <a:srgbClr val="F8FAFC"/>
                </a:solidFill>
              </a:defRPr>
            </a:pPr>
            <a:r>
              <a:t>Roadmap &amp; Live Verification Links</a:t>
            </a:r>
          </a:p>
        </p:txBody>
      </p:sp>
      <p:sp>
        <p:nvSpPr>
          <p:cNvPr id="5" name="TextBox 4"/>
          <p:cNvSpPr txBox="1"/>
          <p:nvPr/>
        </p:nvSpPr>
        <p:spPr>
          <a:xfrm>
            <a:off x="731520" y="1508760"/>
            <a:ext cx="10515600" cy="548640"/>
          </a:xfrm>
          <a:prstGeom prst="rect">
            <a:avLst/>
          </a:prstGeom>
          <a:noFill/>
        </p:spPr>
        <p:txBody>
          <a:bodyPr wrap="square">
            <a:spAutoFit/>
          </a:bodyPr>
          <a:lstStyle/>
          <a:p>
            <a:pPr>
              <a:defRPr sz="1400">
                <a:solidFill>
                  <a:srgbClr val="94A3B8"/>
                </a:solidFill>
              </a:defRPr>
            </a:pPr>
            <a:r>
              <a:t>Scaling ActionPilot into the enterprise operational nervous system:</a:t>
            </a:r>
          </a:p>
        </p:txBody>
      </p:sp>
      <p:sp>
        <p:nvSpPr>
          <p:cNvPr id="6" name="Rounded Rectangle 5"/>
          <p:cNvSpPr/>
          <p:nvPr/>
        </p:nvSpPr>
        <p:spPr>
          <a:xfrm>
            <a:off x="731520" y="2286000"/>
            <a:ext cx="5120640" cy="3840480"/>
          </a:xfrm>
          <a:prstGeom prst="roundRect">
            <a:avLst/>
          </a:prstGeom>
          <a:solidFill>
            <a:srgbClr val="121826"/>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468880"/>
            <a:ext cx="4754880" cy="3474720"/>
          </a:xfrm>
          <a:prstGeom prst="rect">
            <a:avLst/>
          </a:prstGeom>
          <a:noFill/>
        </p:spPr>
        <p:txBody>
          <a:bodyPr wrap="square">
            <a:spAutoFit/>
          </a:bodyPr>
          <a:lstStyle/>
          <a:p>
            <a:pPr>
              <a:defRPr b="1" sz="1700">
                <a:solidFill>
                  <a:srgbClr val="F8FAFC"/>
                </a:solidFill>
              </a:defRPr>
            </a:pPr>
            <a:r>
              <a:t>🚀  Upcoming Product Milestones</a:t>
            </a:r>
          </a:p>
          <a:p>
            <a:pPr>
              <a:spcBef>
                <a:spcPts val="800"/>
              </a:spcBef>
              <a:defRPr sz="1300">
                <a:solidFill>
                  <a:srgbClr val="94A3B8"/>
                </a:solidFill>
              </a:defRPr>
            </a:pPr>
            <a:r>
              <a:t>• Q4 2026: Live Zoom, Google Meet &amp; Microsoft Teams bot listener for continuous voice capture.</a:t>
            </a:r>
          </a:p>
          <a:p>
            <a:pPr>
              <a:spcBef>
                <a:spcPts val="800"/>
              </a:spcBef>
              <a:defRPr sz="1300">
                <a:solidFill>
                  <a:srgbClr val="94A3B8"/>
                </a:solidFill>
              </a:defRPr>
            </a:pPr>
            <a:r>
              <a:t>• Q1 2027: Bidirectional 2-way sync with Jira, Linear, and Asana.</a:t>
            </a:r>
          </a:p>
          <a:p>
            <a:pPr>
              <a:spcBef>
                <a:spcPts val="800"/>
              </a:spcBef>
              <a:defRPr sz="1300">
                <a:solidFill>
                  <a:srgbClr val="94A3B8"/>
                </a:solidFill>
              </a:defRPr>
            </a:pPr>
            <a:r>
              <a:t>• Q2 2027: Custom enterprise compliance policies &amp; automated escalation matrix.</a:t>
            </a:r>
          </a:p>
        </p:txBody>
      </p:sp>
      <p:sp>
        <p:nvSpPr>
          <p:cNvPr id="8" name="Rounded Rectangle 7"/>
          <p:cNvSpPr/>
          <p:nvPr/>
        </p:nvSpPr>
        <p:spPr>
          <a:xfrm>
            <a:off x="6217920" y="2286000"/>
            <a:ext cx="5120640" cy="3840480"/>
          </a:xfrm>
          <a:prstGeom prst="roundRect">
            <a:avLst/>
          </a:prstGeom>
          <a:solidFill>
            <a:srgbClr val="161C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800">
                <a:solidFill>
                  <a:srgbClr val="10B981"/>
                </a:solidFill>
              </a:defRPr>
            </a:pPr>
            <a:r>
              <a:t>🔗 Live Deployment Links</a:t>
            </a:r>
          </a:p>
          <a:p>
            <a:pPr>
              <a:spcBef>
                <a:spcPts val="1200"/>
              </a:spcBef>
              <a:defRPr sz="1200">
                <a:solidFill>
                  <a:srgbClr val="F8FAFC"/>
                </a:solidFill>
              </a:defRPr>
            </a:pPr>
            <a:r>
              <a:t>• Backend API (Live on Render):</a:t>
            </a:r>
            <a:br/>
            <a:r>
              <a:t>  https://actionpilot-2oon.onrender.com/docs</a:t>
            </a:r>
          </a:p>
          <a:p>
            <a:pPr>
              <a:spcBef>
                <a:spcPts val="1200"/>
              </a:spcBef>
              <a:defRPr sz="1200">
                <a:solidFill>
                  <a:srgbClr val="F8FAFC"/>
                </a:solidFill>
              </a:defRPr>
            </a:pPr>
            <a:r>
              <a:t>• Open Source GitHub Repository:</a:t>
            </a:r>
            <a:br/>
            <a:r>
              <a:t>  https://github.com/satyamchaubey-gif/ActionPilot-</a:t>
            </a:r>
          </a:p>
          <a:p>
            <a:pPr>
              <a:spcBef>
                <a:spcPts val="2000"/>
              </a:spcBef>
              <a:defRPr b="1" sz="1600">
                <a:solidFill>
                  <a:srgbClr val="F59E0B"/>
                </a:solidFill>
              </a:defRPr>
            </a:pPr>
            <a:r>
              <a:t>Thank you, Judges!</a:t>
            </a:r>
            <a:br/>
            <a:r>
              <a:t>We are ready for your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